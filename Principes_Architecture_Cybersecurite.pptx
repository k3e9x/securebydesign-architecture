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PRINCIPES FONDAMENTAUX DE L'ARCHITECTURE CYBERSÉCURITÉ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Les 6 piliers de la sécurité des systèmes d'information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Introduction et contexte</a:t>
            </a:r>
          </a:p>
          <a:p>
            <a:pPr>
              <a:defRPr sz="1800"/>
            </a:pPr>
            <a:r>
              <a:t>2. Defense in Depth</a:t>
            </a:r>
          </a:p>
          <a:p>
            <a:pPr>
              <a:defRPr sz="1800"/>
            </a:pPr>
            <a:r>
              <a:t>3. Least Privilege</a:t>
            </a:r>
          </a:p>
          <a:p>
            <a:pPr>
              <a:defRPr sz="1800"/>
            </a:pPr>
            <a:r>
              <a:t>4. Separation of Duties</a:t>
            </a:r>
          </a:p>
          <a:p>
            <a:pPr>
              <a:defRPr sz="1800"/>
            </a:pPr>
            <a:r>
              <a:t>5. Secure by Design</a:t>
            </a:r>
          </a:p>
          <a:p>
            <a:pPr>
              <a:defRPr sz="1800"/>
            </a:pPr>
            <a:r>
              <a:t>6. Keep It Simple, Stupid (KISS)</a:t>
            </a:r>
          </a:p>
          <a:p>
            <a:pPr>
              <a:defRPr sz="1800"/>
            </a:pPr>
            <a:r>
              <a:t>7. Security by Obscurity (à éviter)</a:t>
            </a:r>
          </a:p>
          <a:p>
            <a:pPr>
              <a:defRPr sz="1800"/>
            </a:pPr>
            <a:r>
              <a:t>8. Mise en pratique</a:t>
            </a:r>
          </a:p>
          <a:p>
            <a:pPr>
              <a:defRPr sz="1800"/>
            </a:pPr>
            <a:r>
              <a:t>9.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ces principes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200"/>
            </a:pPr>
            <a:r>
              <a:t>Contexte actuel</a:t>
            </a:r>
          </a:p>
          <a:p>
            <a:pPr>
              <a:defRPr sz="1600"/>
            </a:pPr>
            <a:r>
              <a:t>Augmentation des cyberattaques : +38% en 2025</a:t>
            </a:r>
          </a:p>
          <a:p>
            <a:pPr>
              <a:defRPr sz="1600"/>
            </a:pPr>
            <a:r>
              <a:t>Coût moyen d'une violation : 4,45M$ (IBM, 2024)</a:t>
            </a:r>
          </a:p>
          <a:p>
            <a:pPr>
              <a:defRPr sz="1600"/>
            </a:pPr>
            <a:r>
              <a:t>Temps moyen de détection : 277 jours</a:t>
            </a:r>
          </a:p>
          <a:p>
            <a:pPr>
              <a:defRPr sz="1600"/>
            </a:pPr>
            <a:r>
              <a:t>Transformation digitale : Surface d'attaque en expansion</a:t>
            </a:r>
          </a:p>
          <a:p>
            <a:pPr>
              <a:defRPr sz="1600"/>
            </a:pPr>
            <a:r>
              <a:t>Pénurie de talents : 3,5M postes non pourvus</a:t>
            </a:r>
          </a:p>
          <a:p>
            <a:pPr>
              <a:defRPr sz="1600"/>
            </a:pPr>
          </a:p>
          <a:p>
            <a:pPr>
              <a:defRPr b="1" sz="1600">
                <a:solidFill>
                  <a:srgbClr val="0070C0"/>
                </a:solidFill>
              </a:defRPr>
            </a:pPr>
            <a:r>
              <a:t>Solution :</a:t>
            </a:r>
          </a:p>
          <a:p>
            <a:pPr>
              <a:defRPr sz="1600"/>
            </a:pPr>
            <a:r>
              <a:t>Des principes éprouvés pour construire des systèmes résilients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6 Principes Fondamentaux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DEFENSE IN DEPTH (Défense en profondeur)</a:t>
            </a:r>
          </a:p>
          <a:p>
            <a:pPr>
              <a:spcAft>
                <a:spcPts val="1200"/>
              </a:spcAft>
              <a:defRPr sz="2000" b="1"/>
            </a:pPr>
            <a:r>
              <a:t>2. LEAST PRIVILEGE (Moindre privilège)</a:t>
            </a:r>
          </a:p>
          <a:p>
            <a:pPr>
              <a:spcAft>
                <a:spcPts val="1200"/>
              </a:spcAft>
              <a:defRPr sz="2000" b="1"/>
            </a:pPr>
            <a:r>
              <a:t>3. SEPARATION OF DUTIES (Séparation des tâches)</a:t>
            </a:r>
          </a:p>
          <a:p>
            <a:pPr>
              <a:spcAft>
                <a:spcPts val="1200"/>
              </a:spcAft>
              <a:defRPr sz="2000" b="1"/>
            </a:pPr>
            <a:r>
              <a:t>4. SECURE BY DESIGN (Sécurité dès la conception)</a:t>
            </a:r>
          </a:p>
          <a:p>
            <a:pPr>
              <a:spcAft>
                <a:spcPts val="1200"/>
              </a:spcAft>
              <a:defRPr sz="2000" b="1"/>
            </a:pPr>
            <a:r>
              <a:t>5. KISS (Keep It Simple, Stupid)</a:t>
            </a:r>
          </a:p>
          <a:p>
            <a:pPr>
              <a:spcAft>
                <a:spcPts val="1200"/>
              </a:spcAft>
              <a:defRPr sz="2000" b="1"/>
            </a:pPr>
            <a:r>
              <a:t>6. PAS Security by Obscurity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Defense in Depth -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200"/>
            </a:pPr>
            <a:r>
              <a:t>Définition</a:t>
            </a:r>
          </a:p>
          <a:p>
            <a:pPr>
              <a:defRPr sz="1800"/>
            </a:pPr>
            <a:r>
              <a:t>Stratégie de sécurité multi-couches</a:t>
            </a:r>
          </a:p>
          <a:p>
            <a:pPr>
              <a:spcAft>
                <a:spcPts val="2000"/>
              </a:spcAft>
              <a:defRPr i="1" sz="1600"/>
            </a:pPr>
            <a:r>
              <a:t>"Si une couche échoue, les autres continuent à protéger"</a:t>
            </a:r>
          </a:p>
          <a:p>
            <a:pPr>
              <a:defRPr b="1" sz="2200"/>
            </a:pPr>
            <a:r>
              <a:t>Origine</a:t>
            </a:r>
          </a:p>
          <a:p>
            <a:pPr>
              <a:defRPr sz="1600"/>
            </a:pPr>
            <a:r>
              <a:t>• Concept militaire ancien (châteaux médiévaux)</a:t>
            </a:r>
          </a:p>
          <a:p>
            <a:pPr>
              <a:defRPr sz="1600"/>
            </a:pPr>
            <a:r>
              <a:t>• Adapté à la cybersécurité années 1990</a:t>
            </a:r>
          </a:p>
          <a:p>
            <a:pPr>
              <a:defRPr sz="1600"/>
            </a:pPr>
            <a:r>
              <a:t>• Standard NIST, ANSSI, ISO 27001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6 Couches de Défense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UTILISATEUR : Formation, MFA obligatoire</a:t>
            </a:r>
          </a:p>
          <a:p>
            <a:pPr>
              <a:spcAft>
                <a:spcPts val="1000"/>
              </a:spcAft>
              <a:defRPr sz="1800"/>
            </a:pPr>
            <a:r>
              <a:t>2. RÉSEAU : Firewall, IDS/IPS, Segmentation</a:t>
            </a:r>
          </a:p>
          <a:p>
            <a:pPr>
              <a:spcAft>
                <a:spcPts val="1000"/>
              </a:spcAft>
              <a:defRPr sz="1800"/>
            </a:pPr>
            <a:r>
              <a:t>3. HÔTE : Antivirus/EDR, Hardening OS</a:t>
            </a:r>
          </a:p>
          <a:p>
            <a:pPr>
              <a:spcAft>
                <a:spcPts val="1000"/>
              </a:spcAft>
              <a:defRPr sz="1800"/>
            </a:pPr>
            <a:r>
              <a:t>4. APPLICATION : WAF, Validation des inputs</a:t>
            </a:r>
          </a:p>
          <a:p>
            <a:pPr>
              <a:spcAft>
                <a:spcPts val="1000"/>
              </a:spcAft>
              <a:defRPr sz="1800"/>
            </a:pPr>
            <a:r>
              <a:t>5. DONNÉES : Chiffrement at rest, DLP</a:t>
            </a:r>
          </a:p>
          <a:p>
            <a:pPr>
              <a:spcAft>
                <a:spcPts val="1000"/>
              </a:spcAft>
              <a:defRPr sz="1800"/>
            </a:pPr>
            <a:r>
              <a:t>6. GOUVERNANCE : Politiques, Audit, Conformité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Exemple Concret - Application Bancaire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Architecture multi-couches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PÉRIMÈTRE : Anti-DDoS, Firewall (Cloudflare, F5)</a:t>
            </a:r>
          </a:p>
          <a:p>
            <a:pPr>
              <a:defRPr sz="1600"/>
            </a:pPr>
            <a:r>
              <a:t>DMZ : WAF, Load Balancer (ModSecurity, HAProxy)</a:t>
            </a:r>
          </a:p>
          <a:p>
            <a:pPr>
              <a:defRPr sz="1600"/>
            </a:pPr>
            <a:r>
              <a:t>APPLICATION : Auth forte (OAuth 2.0 + MFA)</a:t>
            </a:r>
          </a:p>
          <a:p>
            <a:pPr>
              <a:defRPr sz="1600"/>
            </a:pPr>
            <a:r>
              <a:t>DONNÉES : Chiffrement AES-256 (TDE, Vault)</a:t>
            </a:r>
          </a:p>
          <a:p>
            <a:pPr>
              <a:defRPr sz="1600"/>
            </a:pPr>
            <a:r>
              <a:t>MONITORING : SIEM, SOC 24/7 (Splunk, QRadar)</a:t>
            </a:r>
          </a:p>
          <a:p>
            <a:pPr>
              <a:defRPr sz="1600"/>
            </a:pPr>
          </a:p>
          <a:p>
            <a:pPr>
              <a:defRPr sz="1600" b="1">
                <a:solidFill>
                  <a:srgbClr val="0070C0"/>
                </a:solidFill>
              </a:defRPr>
            </a:pPr>
            <a:r>
              <a:t>→ 5 barrières à franchir pour un attaquant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Least Privilege -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200"/>
            </a:pPr>
            <a:r>
              <a:t>Définition</a:t>
            </a:r>
          </a:p>
          <a:p>
            <a:pPr>
              <a:spcAft>
                <a:spcPts val="2000"/>
              </a:spcAft>
              <a:defRPr i="1" sz="1600"/>
            </a:pPr>
            <a:r>
              <a:t>"Un utilisateur doit avoir uniquement les accès strictement nécessaires pour accomplir sa fonction"</a:t>
            </a:r>
          </a:p>
          <a:p>
            <a:pPr>
              <a:defRPr b="1" sz="2200"/>
            </a:pPr>
            <a:r>
              <a:t>Objectifs</a:t>
            </a:r>
          </a:p>
          <a:p>
            <a:pPr>
              <a:defRPr sz="1800"/>
            </a:pPr>
            <a:r>
              <a:t>• Réduire la surface d'attaque</a:t>
            </a:r>
          </a:p>
          <a:p>
            <a:pPr>
              <a:defRPr sz="1800"/>
            </a:pPr>
            <a:r>
              <a:t>• Limiter les dommages en cas de compromission</a:t>
            </a:r>
          </a:p>
          <a:p>
            <a:pPr>
              <a:defRPr sz="1800"/>
            </a:pPr>
            <a:r>
              <a:t>• Conformité réglementaire (RGPD, ISO 27001)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Least Privilege - Bonnes vs Mauvaises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C00000"/>
                </a:solidFill>
              </a:defRPr>
            </a:pPr>
            <a:r>
              <a:t>❌ MAUVAISE PRATIQUE</a:t>
            </a:r>
          </a:p>
          <a:p>
            <a:pPr>
              <a:spcAft>
                <a:spcPts val="2000"/>
              </a:spcAft>
              <a:defRPr sz="1600"/>
            </a:pPr>
            <a:r>
              <a:t>Tous les utilisateurs = Administrateurs</a:t>
            </a:r>
          </a:p>
          <a:p>
            <a:pPr>
              <a:defRPr b="1" sz="2000">
                <a:solidFill>
                  <a:srgbClr val="008000"/>
                </a:solidFill>
              </a:defRPr>
            </a:pPr>
            <a:r>
              <a:t>✅ BONNE PRATIQUE</a:t>
            </a:r>
          </a:p>
          <a:p>
            <a:pPr>
              <a:defRPr sz="1600"/>
            </a:pPr>
            <a:r>
              <a:t>• Utilisateurs standards : Accès personnels uniquement</a:t>
            </a:r>
          </a:p>
          <a:p>
            <a:pPr>
              <a:defRPr sz="1600"/>
            </a:pPr>
            <a:r>
              <a:t>• Administrateurs : 2 comptes (standard + admin séparés)</a:t>
            </a:r>
          </a:p>
          <a:p>
            <a:pPr>
              <a:defRPr sz="1600"/>
            </a:pPr>
            <a:r>
              <a:t>• Élévation temporaire : JIT (Just-In-Time)</a:t>
            </a:r>
          </a:p>
          <a:p>
            <a:pPr>
              <a:defRPr sz="1600"/>
            </a:pPr>
            <a:r>
              <a:t>• Applications : Permissions minimales (SELECT seulement)</a:t>
            </a:r>
          </a:p>
          <a:p>
            <a:pPr>
              <a:defRPr sz="1600"/>
            </a:pPr>
            <a:r>
              <a:t>• RBAC : Rôles granulaires bien définis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Separation of Duties -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200"/>
            </a:pPr>
            <a:r>
              <a:t>Définition</a:t>
            </a:r>
          </a:p>
          <a:p>
            <a:pPr>
              <a:spcAft>
                <a:spcPts val="2000"/>
              </a:spcAft>
              <a:defRPr sz="1800"/>
            </a:pPr>
            <a:r>
              <a:t>Diviser les responsabilités critiques entre plusieurs personnes</a:t>
            </a:r>
          </a:p>
          <a:p>
            <a:pPr>
              <a:defRPr b="1" sz="2200"/>
            </a:pPr>
            <a:r>
              <a:t>Principe fondamental</a:t>
            </a:r>
          </a:p>
          <a:p>
            <a:pPr>
              <a:spcAft>
                <a:spcPts val="2000"/>
              </a:spcAft>
              <a:defRPr i="1" sz="1600"/>
            </a:pPr>
            <a:r>
              <a:t>"Aucune personne ne doit avoir un contrôle complet sur une transaction critique du début à la fin"</a:t>
            </a:r>
          </a:p>
          <a:p>
            <a:pPr>
              <a:defRPr sz="1600"/>
            </a:pPr>
            <a:r>
              <a:t>Objectifs : Prévention fraude • Détection erreurs • Réduction risques • Conformité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SoD en IT - Déploiement en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1. DÉVELOPPEUR</a:t>
            </a:r>
          </a:p>
          <a:p>
            <a:pPr>
              <a:defRPr sz="1500"/>
            </a:pPr>
            <a:r>
              <a:t>   • Écrit le code</a:t>
            </a:r>
          </a:p>
          <a:p>
            <a:pPr>
              <a:defRPr sz="1500"/>
            </a:pPr>
            <a:r>
              <a:t>   • Teste en dev</a:t>
            </a:r>
          </a:p>
          <a:p>
            <a:pPr>
              <a:defRPr sz="1500"/>
            </a:pPr>
            <a:r>
              <a:t>   ✗ NE PEUT PAS déployer en production</a:t>
            </a:r>
          </a:p>
          <a:p>
            <a:pPr>
              <a:defRPr sz="1500"/>
            </a:pPr>
          </a:p>
          <a:p>
            <a:pPr>
              <a:defRPr b="1" sz="1800"/>
            </a:pPr>
            <a:r>
              <a:t>2. LEAD DEVELOPER</a:t>
            </a:r>
          </a:p>
          <a:p>
            <a:pPr>
              <a:defRPr sz="1500"/>
            </a:pPr>
            <a:r>
              <a:t>   • Code review</a:t>
            </a:r>
          </a:p>
          <a:p>
            <a:pPr>
              <a:defRPr sz="1500"/>
            </a:pPr>
            <a:r>
              <a:t>   • Approuve Pull Request</a:t>
            </a:r>
          </a:p>
          <a:p>
            <a:pPr>
              <a:defRPr sz="1500"/>
            </a:pPr>
            <a:r>
              <a:t>   ✗ NE PEUT PAS déployer</a:t>
            </a:r>
          </a:p>
          <a:p>
            <a:pPr>
              <a:defRPr sz="1500"/>
            </a:pPr>
          </a:p>
          <a:p>
            <a:pPr>
              <a:defRPr b="1" sz="1800"/>
            </a:pPr>
            <a:r>
              <a:t>3. DEVOPS / SRE</a:t>
            </a:r>
          </a:p>
          <a:p>
            <a:pPr>
              <a:defRPr sz="1500"/>
            </a:pPr>
            <a:r>
              <a:t>   • Valide tests automatisés</a:t>
            </a:r>
          </a:p>
          <a:p>
            <a:pPr>
              <a:defRPr sz="1500"/>
            </a:pPr>
            <a:r>
              <a:t>   • Exécute le déploiement</a:t>
            </a:r>
          </a:p>
          <a:p>
            <a:pPr>
              <a:defRPr sz="1500"/>
            </a:pPr>
            <a:r>
              <a:t>   ✗ NE PEUT PAS modifier le code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by Design -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200"/>
            </a:pPr>
            <a:r>
              <a:t>Définition</a:t>
            </a:r>
          </a:p>
          <a:p>
            <a:pPr>
              <a:spcAft>
                <a:spcPts val="2000"/>
              </a:spcAft>
              <a:defRPr sz="1800"/>
            </a:pPr>
            <a:r>
              <a:t>Intégrer la sécurité dès les premières phases de conception</a:t>
            </a:r>
          </a:p>
          <a:p>
            <a:pPr>
              <a:defRPr b="1" sz="2200"/>
            </a:pPr>
            <a:r>
              <a:t>Citation</a:t>
            </a:r>
          </a:p>
          <a:p>
            <a:pPr>
              <a:spcAft>
                <a:spcPts val="2000"/>
              </a:spcAft>
              <a:defRPr i="1" sz="1600"/>
            </a:pPr>
            <a:r>
              <a:t>"It is far easier to design security into a system than to add it later" - Gary McGraw</a:t>
            </a:r>
          </a:p>
          <a:p>
            <a:pPr>
              <a:defRPr b="1" sz="2200"/>
            </a:pPr>
            <a:r>
              <a:t>Principe clé</a:t>
            </a:r>
          </a:p>
          <a:p>
            <a:pPr>
              <a:defRPr sz="1800">
                <a:solidFill>
                  <a:srgbClr val="0070C0"/>
                </a:solidFill>
              </a:defRPr>
            </a:pPr>
            <a:r>
              <a:t>Sécurité = Fondation, pas une fonctionnalité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Coût de la Sécurité selon la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latin typeface="Courier New"/>
              </a:defRPr>
            </a:pPr>
            <a:r>
              <a:t>PHASE                    COÛT RELATIF</a:t>
            </a:r>
          </a:p>
          <a:p>
            <a:pPr>
              <a:defRPr sz="1600">
                <a:latin typeface="Courier New"/>
              </a:defRPr>
            </a:pPr>
            <a:r>
              <a:t>─────────────────────────────────────</a:t>
            </a:r>
          </a:p>
          <a:p>
            <a:pPr>
              <a:defRPr sz="1600">
                <a:latin typeface="Courier New"/>
              </a:defRPr>
            </a:pPr>
            <a:r>
              <a:t>Conception                    1x</a:t>
            </a:r>
          </a:p>
          <a:p>
            <a:pPr>
              <a:defRPr sz="1600">
                <a:latin typeface="Courier New"/>
              </a:defRPr>
            </a:pPr>
            <a:r>
              <a:t>Développement                10x</a:t>
            </a:r>
          </a:p>
          <a:p>
            <a:pPr>
              <a:defRPr sz="1600">
                <a:latin typeface="Courier New"/>
              </a:defRPr>
            </a:pPr>
            <a:r>
              <a:t>Test                        100x</a:t>
            </a:r>
          </a:p>
          <a:p>
            <a:pPr>
              <a:defRPr sz="1600">
                <a:latin typeface="Courier New"/>
              </a:defRPr>
            </a:pPr>
            <a:r>
              <a:t>Production                 1000x</a:t>
            </a:r>
          </a:p>
          <a:p>
            <a:pPr>
              <a:defRPr sz="1600">
                <a:latin typeface="Courier New"/>
              </a:defRPr>
            </a:pPr>
          </a:p>
          <a:p>
            <a:pPr>
              <a:defRPr sz="1600">
                <a:latin typeface="Courier New"/>
              </a:defRPr>
            </a:pPr>
            <a:r>
              <a:t>Source : IBM System Science Institute</a:t>
            </a:r>
          </a:p>
          <a:p>
            <a:pPr>
              <a:defRPr sz="1600">
                <a:latin typeface="Courier New"/>
              </a:defRPr>
            </a:pPr>
          </a:p>
          <a:p>
            <a:pPr>
              <a:defRPr b="1" sz="1800">
                <a:solidFill>
                  <a:srgbClr val="0070C0"/>
                </a:solidFill>
              </a:defRPr>
            </a:pPr>
            <a:r>
              <a:t>CONCLUSION :</a:t>
            </a:r>
          </a:p>
          <a:p>
            <a:pPr>
              <a:defRPr sz="1600">
                <a:latin typeface="Courier New"/>
              </a:defRPr>
            </a:pPr>
            <a:r>
              <a:t>Intégrer la sécurité dès la conception</a:t>
            </a:r>
          </a:p>
          <a:p>
            <a:pPr>
              <a:defRPr b="1" sz="1800">
                <a:solidFill>
                  <a:srgbClr val="0070C0"/>
                </a:solidFill>
              </a:defRPr>
            </a:pPr>
            <a:r>
              <a:t>= 1000x moins coûteux 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STRIDE Threat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 - Spoofing : Usurpation identité → MFA</a:t>
            </a:r>
          </a:p>
          <a:p>
            <a:pPr>
              <a:spcAft>
                <a:spcPts val="800"/>
              </a:spcAft>
              <a:defRPr sz="1600"/>
            </a:pPr>
            <a:r>
              <a:t>T - Tampering : Modification données → Prepared statements</a:t>
            </a:r>
          </a:p>
          <a:p>
            <a:pPr>
              <a:spcAft>
                <a:spcPts val="800"/>
              </a:spcAft>
              <a:defRPr sz="1600"/>
            </a:pPr>
            <a:r>
              <a:t>R - Repudiation : Déni d'action → Audit trail</a:t>
            </a:r>
          </a:p>
          <a:p>
            <a:pPr>
              <a:spcAft>
                <a:spcPts val="800"/>
              </a:spcAft>
              <a:defRPr sz="1600"/>
            </a:pPr>
            <a:r>
              <a:t>I - Info Disclosure : Fuite données → Chiffrement</a:t>
            </a:r>
          </a:p>
          <a:p>
            <a:pPr>
              <a:spcAft>
                <a:spcPts val="800"/>
              </a:spcAft>
              <a:defRPr sz="1600"/>
            </a:pPr>
            <a:r>
              <a:t>D - Denial of Service : DDoS → Rate limiting</a:t>
            </a:r>
          </a:p>
          <a:p>
            <a:pPr>
              <a:spcAft>
                <a:spcPts val="800"/>
              </a:spcAft>
              <a:defRPr sz="1600"/>
            </a:pPr>
            <a:r>
              <a:t>E - Elevation of Privilege : Exploit → Least privilege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 It Simple, Stupid (KISS)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200"/>
            </a:pPr>
            <a:r>
              <a:t>Définition</a:t>
            </a:r>
          </a:p>
          <a:p>
            <a:pPr>
              <a:spcAft>
                <a:spcPts val="2000"/>
              </a:spcAft>
              <a:defRPr sz="1800"/>
            </a:pPr>
            <a:r>
              <a:t>La simplicité doit être un objectif clé dans la conception</a:t>
            </a:r>
          </a:p>
          <a:p>
            <a:pPr>
              <a:defRPr b="1" sz="2200"/>
            </a:pPr>
            <a:r>
              <a:t>Citation</a:t>
            </a:r>
          </a:p>
          <a:p>
            <a:pPr>
              <a:spcAft>
                <a:spcPts val="2000"/>
              </a:spcAft>
              <a:defRPr i="1" sz="1600"/>
            </a:pPr>
            <a:r>
              <a:t>"Complexity is the enemy of security" - Bruce Schneier</a:t>
            </a:r>
          </a:p>
          <a:p>
            <a:pPr>
              <a:defRPr b="1" sz="2200"/>
            </a:pPr>
            <a:r>
              <a:t>Pourquoi ?</a:t>
            </a:r>
          </a:p>
          <a:p>
            <a:pPr>
              <a:defRPr sz="1800"/>
            </a:pPr>
            <a:r>
              <a:t>• Plus de complexité = Plus de bugs</a:t>
            </a:r>
          </a:p>
          <a:p>
            <a:pPr>
              <a:defRPr sz="1800"/>
            </a:pPr>
            <a:r>
              <a:t>• Plus de code = Plus de surface d'attaque</a:t>
            </a:r>
          </a:p>
          <a:p>
            <a:pPr>
              <a:defRPr sz="1800"/>
            </a:pPr>
            <a:r>
              <a:t>• Difficile à auditer et maintenir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de la Complexité - Statistiques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Étude Université de Californie :</a:t>
            </a:r>
          </a:p>
          <a:p>
            <a:pPr>
              <a:defRPr sz="1600"/>
            </a:pPr>
            <a:r>
              <a:t>• 1000 lignes de code = 15-50 bugs</a:t>
            </a:r>
          </a:p>
          <a:p>
            <a:pPr>
              <a:defRPr sz="1600"/>
            </a:pPr>
            <a:r>
              <a:t>• Dont 1-5 bugs de sécurité exploitables</a:t>
            </a:r>
          </a:p>
          <a:p>
            <a:pPr>
              <a:defRPr sz="1600"/>
            </a:pPr>
          </a:p>
          <a:p>
            <a:pPr>
              <a:defRPr b="1" sz="2000"/>
            </a:pPr>
            <a:r>
              <a:t>Étude NIST :</a:t>
            </a:r>
          </a:p>
          <a:p>
            <a:pPr>
              <a:defRPr sz="1600"/>
            </a:pPr>
            <a:r>
              <a:t>• 70% des vulnérabilités = code complexe inutile</a:t>
            </a:r>
          </a:p>
          <a:p>
            <a:pPr>
              <a:defRPr sz="1600"/>
            </a:pPr>
            <a:r>
              <a:t>• Simplification = -40% coûts maintenance</a:t>
            </a:r>
          </a:p>
          <a:p>
            <a:pPr>
              <a:defRPr sz="1600"/>
            </a:pPr>
          </a:p>
          <a:p>
            <a:pPr>
              <a:defRPr b="1" sz="1800">
                <a:solidFill>
                  <a:srgbClr val="0070C0"/>
                </a:solidFill>
              </a:defRPr>
            </a:pPr>
            <a:r>
              <a:t>→ Complexité inutile = Vulnérabilités évitables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by Obscurity - À ÉVITER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200"/>
            </a:pPr>
            <a:r>
              <a:t>Définition</a:t>
            </a:r>
          </a:p>
          <a:p>
            <a:pPr>
              <a:spcAft>
                <a:spcPts val="2000"/>
              </a:spcAft>
              <a:defRPr sz="1600"/>
            </a:pPr>
            <a:r>
              <a:t>Stratégie qui repose sur le secret du fonctionnement pour assurer la sécurité</a:t>
            </a:r>
          </a:p>
          <a:p>
            <a:pPr>
              <a:defRPr b="1" sz="2200"/>
            </a:pPr>
            <a:r>
              <a:t>Position de la communauté</a:t>
            </a:r>
          </a:p>
          <a:p>
            <a:pPr>
              <a:spcAft>
                <a:spcPts val="2000"/>
              </a:spcAft>
              <a:defRPr i="1" sz="1800">
                <a:solidFill>
                  <a:srgbClr val="C00000"/>
                </a:solidFill>
              </a:defRPr>
            </a:pPr>
            <a:r>
              <a:t>"Security through obscurity is not security"</a:t>
            </a:r>
          </a:p>
          <a:p>
            <a:pPr>
              <a:defRPr b="1" sz="2200"/>
            </a:pPr>
            <a:r>
              <a:t>Principe de Kerckhoffs (1883)</a:t>
            </a:r>
          </a:p>
          <a:p>
            <a:pPr>
              <a:defRPr i="1" sz="1600"/>
            </a:pPr>
            <a:r>
              <a:t>"Le système doit être sûr même si tout est public, sauf la clé"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c'est Dangereux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1. Faux sentiment de sécurité</a:t>
            </a:r>
          </a:p>
          <a:p>
            <a:pPr>
              <a:defRPr sz="1600"/>
            </a:pPr>
            <a:r>
              <a:t>• URL 'secrète' sans authentification</a:t>
            </a:r>
          </a:p>
          <a:p>
            <a:pPr>
              <a:defRPr sz="1600"/>
            </a:pPr>
            <a:r>
              <a:t>• Découvrable par fuzzing, analyse code frontend</a:t>
            </a:r>
          </a:p>
          <a:p>
            <a:pPr>
              <a:defRPr sz="1600"/>
            </a:pPr>
            <a:r>
              <a:t>• Visible dans commits Git, documentation</a:t>
            </a:r>
          </a:p>
          <a:p>
            <a:pPr>
              <a:defRPr sz="1600"/>
            </a:pPr>
          </a:p>
          <a:p>
            <a:pPr>
              <a:defRPr b="1" sz="2000"/>
            </a:pPr>
            <a:r>
              <a:t>2. Sécurité = 0 dès que découvert</a:t>
            </a:r>
          </a:p>
          <a:p>
            <a:pPr>
              <a:defRPr sz="1600"/>
            </a:pPr>
            <a:r>
              <a:t>• Pas de plan B si le secret est révélé</a:t>
            </a:r>
          </a:p>
          <a:p>
            <a:pPr>
              <a:defRPr sz="1600"/>
            </a:pPr>
            <a:r>
              <a:t>• Exemples historiques : CSS (DVD), WEP (WiFi), tous cassés</a:t>
            </a:r>
          </a:p>
          <a:p>
            <a:pPr>
              <a:defRPr sz="1600"/>
            </a:pPr>
          </a:p>
          <a:p>
            <a:pPr>
              <a:defRPr b="1" sz="1800">
                <a:solidFill>
                  <a:srgbClr val="008000"/>
                </a:solidFill>
              </a:defRPr>
            </a:pPr>
            <a:r>
              <a:t>Alternative : Standards publics + Secrets changeables (clés)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 Pratique - Audit d'Architecture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Situation actuelle :</a:t>
            </a:r>
          </a:p>
          <a:p>
            <a:pPr>
              <a:defRPr sz="1600"/>
            </a:pPr>
            <a:r>
              <a:t>• Application web monolithique</a:t>
            </a:r>
          </a:p>
          <a:p>
            <a:pPr>
              <a:defRPr sz="1600"/>
            </a:pPr>
            <a:r>
              <a:t>• Un seul firewall en entrée</a:t>
            </a:r>
          </a:p>
          <a:p>
            <a:pPr>
              <a:defRPr sz="1600"/>
            </a:pPr>
            <a:r>
              <a:t>• Tous les utilisateurs = administrateurs</a:t>
            </a:r>
          </a:p>
          <a:p>
            <a:pPr>
              <a:defRPr sz="1600"/>
            </a:pPr>
            <a:r>
              <a:t>• Développeurs déploient directement en prod</a:t>
            </a:r>
          </a:p>
          <a:p>
            <a:pPr>
              <a:defRPr sz="1600"/>
            </a:pPr>
            <a:r>
              <a:t>• Authentification custom (algorithme maison)</a:t>
            </a:r>
          </a:p>
          <a:p>
            <a:pPr>
              <a:defRPr sz="1600"/>
            </a:pPr>
            <a:r>
              <a:t>• 150 endpoints REST</a:t>
            </a:r>
          </a:p>
          <a:p>
            <a:pPr>
              <a:defRPr sz="1600"/>
            </a:pPr>
            <a:r>
              <a:t>• SSH sur port 22, root login activé</a:t>
            </a:r>
          </a:p>
          <a:p>
            <a:pPr>
              <a:defRPr sz="1600"/>
            </a:pPr>
            <a:r>
              <a:t>• Pas de MFA</a:t>
            </a:r>
          </a:p>
          <a:p>
            <a:pPr>
              <a:defRPr sz="1600"/>
            </a:pPr>
          </a:p>
          <a:p>
            <a:pPr>
              <a:defRPr b="1" sz="1800">
                <a:solidFill>
                  <a:srgbClr val="0070C0"/>
                </a:solidFill>
              </a:defRPr>
            </a:pPr>
            <a:r>
              <a:t>Question : Quels principes sont violés 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Corrections Proposées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Defense in Depth : + WAF + IDS/IPS + Segmentation</a:t>
            </a:r>
          </a:p>
          <a:p>
            <a:pPr>
              <a:spcAft>
                <a:spcPts val="1000"/>
              </a:spcAft>
              <a:defRPr sz="1600" b="1"/>
            </a:pPr>
            <a:r>
              <a:t>Least Privilege : RBAC + Comptes standards</a:t>
            </a:r>
          </a:p>
          <a:p>
            <a:pPr>
              <a:spcAft>
                <a:spcPts val="1000"/>
              </a:spcAft>
              <a:defRPr sz="1600" b="1"/>
            </a:pPr>
            <a:r>
              <a:t>Separation of Duties : Pipeline CI/CD avec approbations</a:t>
            </a:r>
          </a:p>
          <a:p>
            <a:pPr>
              <a:spcAft>
                <a:spcPts val="1000"/>
              </a:spcAft>
              <a:defRPr sz="1600" b="1"/>
            </a:pPr>
            <a:r>
              <a:t>Secure by Design : OAuth 2.0 + MFA</a:t>
            </a:r>
          </a:p>
          <a:p>
            <a:pPr>
              <a:spcAft>
                <a:spcPts val="1000"/>
              </a:spcAft>
              <a:defRPr sz="1600" b="1"/>
            </a:pPr>
            <a:r>
              <a:t>KISS : Réduire aux endpoints nécessaires</a:t>
            </a:r>
          </a:p>
          <a:p>
            <a:pPr>
              <a:spcAft>
                <a:spcPts val="1000"/>
              </a:spcAft>
              <a:defRPr sz="1600" b="1"/>
            </a:pPr>
            <a:r>
              <a:t>NOT Obscurity : Clés SSH + Firewall whitelist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Récapitulatif des 6 Principes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Defense in Depth → Résilience multi-couches</a:t>
            </a:r>
          </a:p>
          <a:p>
            <a:pPr>
              <a:spcAft>
                <a:spcPts val="1000"/>
              </a:spcAft>
              <a:defRPr sz="1800"/>
            </a:pPr>
            <a:r>
              <a:t>2. Least Privilege → Accès minimum nécessaire</a:t>
            </a:r>
          </a:p>
          <a:p>
            <a:pPr>
              <a:spcAft>
                <a:spcPts val="1000"/>
              </a:spcAft>
              <a:defRPr sz="1800"/>
            </a:pPr>
            <a:r>
              <a:t>3. Separation of Duties → Prévention fraude</a:t>
            </a:r>
          </a:p>
          <a:p>
            <a:pPr>
              <a:spcAft>
                <a:spcPts val="1000"/>
              </a:spcAft>
              <a:defRPr sz="1800"/>
            </a:pPr>
            <a:r>
              <a:t>4. Secure by Design → Sécurité dès le début</a:t>
            </a:r>
          </a:p>
          <a:p>
            <a:pPr>
              <a:spcAft>
                <a:spcPts val="1000"/>
              </a:spcAft>
              <a:defRPr sz="1800"/>
            </a:pPr>
            <a:r>
              <a:t>5. KISS → Simplicité = moins de bugs</a:t>
            </a:r>
          </a:p>
          <a:p>
            <a:pPr>
              <a:spcAft>
                <a:spcPts val="1000"/>
              </a:spcAft>
              <a:defRPr sz="1800"/>
            </a:pPr>
            <a:r>
              <a:t>6. NOT Obscurity → Standards publics + clés secrètes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Messages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600"/>
            </a:pPr>
            <a:r>
              <a:t>1. La sécurité est un processus, pas un produit</a:t>
            </a:r>
          </a:p>
          <a:p>
            <a:pPr>
              <a:defRPr sz="1400"/>
            </a:pPr>
            <a:r>
              <a:t>   → Amélioration continue</a:t>
            </a:r>
          </a:p>
          <a:p>
            <a:pPr>
              <a:defRPr sz="1400"/>
            </a:pPr>
          </a:p>
          <a:p>
            <a:pPr>
              <a:defRPr b="1" sz="1600"/>
            </a:pPr>
            <a:r>
              <a:t>2. Pas de sécurité absolue</a:t>
            </a:r>
          </a:p>
          <a:p>
            <a:pPr>
              <a:defRPr sz="1400"/>
            </a:pPr>
            <a:r>
              <a:t>   → Gérer le risque résiduel</a:t>
            </a:r>
          </a:p>
          <a:p>
            <a:pPr>
              <a:defRPr sz="1400"/>
            </a:pPr>
          </a:p>
          <a:p>
            <a:pPr>
              <a:defRPr b="1" sz="1600"/>
            </a:pPr>
            <a:r>
              <a:t>3. L'humain reste le maillon faible</a:t>
            </a:r>
          </a:p>
          <a:p>
            <a:pPr>
              <a:defRPr sz="1400"/>
            </a:pPr>
            <a:r>
              <a:t>   → Culture de sécurité essentielle</a:t>
            </a:r>
          </a:p>
          <a:p>
            <a:pPr>
              <a:defRPr sz="1400"/>
            </a:pPr>
          </a:p>
          <a:p>
            <a:pPr>
              <a:defRPr b="1" sz="1600"/>
            </a:pPr>
            <a:r>
              <a:t>4. Simplicité et profondeur</a:t>
            </a:r>
          </a:p>
          <a:p>
            <a:pPr>
              <a:defRPr sz="1400"/>
            </a:pPr>
            <a:r>
              <a:t>   → KISS + Defense in Depth</a:t>
            </a:r>
          </a:p>
          <a:p>
            <a:pPr>
              <a:defRPr sz="1400"/>
            </a:pPr>
          </a:p>
          <a:p>
            <a:pPr>
              <a:defRPr b="1" sz="1600"/>
            </a:pPr>
            <a:r>
              <a:t>5. Intégrer dès le début</a:t>
            </a:r>
          </a:p>
          <a:p>
            <a:pPr>
              <a:defRPr sz="1400"/>
            </a:pPr>
            <a:r>
              <a:t>   → Secure by Design = ROI maximal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de Sécurité à Surveiller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Nombre de couches défense : ≥ 3 pour actifs critiques</a:t>
            </a:r>
          </a:p>
          <a:p>
            <a:pPr>
              <a:spcAft>
                <a:spcPts val="800"/>
              </a:spcAft>
              <a:defRPr sz="1600"/>
            </a:pPr>
            <a:r>
              <a:t>Taux comptes à privilèges : &lt; 5%</a:t>
            </a:r>
          </a:p>
          <a:p>
            <a:pPr>
              <a:spcAft>
                <a:spcPts val="800"/>
              </a:spcAft>
              <a:defRPr sz="1600"/>
            </a:pPr>
            <a:r>
              <a:t>Processus avec SoD : 100% des processus critiques</a:t>
            </a:r>
          </a:p>
          <a:p>
            <a:pPr>
              <a:spcAft>
                <a:spcPts val="800"/>
              </a:spcAft>
              <a:defRPr sz="1600"/>
            </a:pPr>
            <a:r>
              <a:t>Vulnérabilités pré-prod : &gt; 80% détectées avant prod</a:t>
            </a:r>
          </a:p>
          <a:p>
            <a:pPr>
              <a:spcAft>
                <a:spcPts val="800"/>
              </a:spcAft>
              <a:defRPr sz="1600"/>
            </a:pPr>
            <a:r>
              <a:t>Complexité code moyenne : &lt; 10 par fonction</a:t>
            </a:r>
          </a:p>
          <a:p>
            <a:pPr>
              <a:spcAft>
                <a:spcPts val="800"/>
              </a:spcAft>
              <a:defRPr sz="1600"/>
            </a:pPr>
            <a:r>
              <a:t>Incidents sécurité : Tendance à la baisse</a:t>
            </a:r>
          </a:p>
          <a:p>
            <a:pPr>
              <a:spcAft>
                <a:spcPts val="800"/>
              </a:spcAft>
              <a:defRPr sz="1600"/>
            </a:pPr>
            <a:r>
              <a:t>Time to remediation : &lt; 72h (vulnérabilités HIGH)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Erreurs Courantes à Éviter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600"/>
            </a:pPr>
            <a:r>
              <a:t>1. Appliquer un seul principe</a:t>
            </a:r>
          </a:p>
          <a:p>
            <a:pPr>
              <a:defRPr sz="1400"/>
            </a:pPr>
            <a:r>
              <a:t>   → Defense in Depth sans Least Privilege = inefficace</a:t>
            </a:r>
          </a:p>
          <a:p>
            <a:pPr>
              <a:defRPr sz="1400"/>
            </a:pPr>
          </a:p>
          <a:p>
            <a:pPr>
              <a:defRPr b="1" sz="1600"/>
            </a:pPr>
            <a:r>
              <a:t>2. Sur-complexifier au nom de la sécurité</a:t>
            </a:r>
          </a:p>
          <a:p>
            <a:pPr>
              <a:defRPr sz="1400"/>
            </a:pPr>
            <a:r>
              <a:t>   → Violation du KISS</a:t>
            </a:r>
          </a:p>
          <a:p>
            <a:pPr>
              <a:defRPr sz="1400"/>
            </a:pPr>
          </a:p>
          <a:p>
            <a:pPr>
              <a:defRPr b="1" sz="1600"/>
            </a:pPr>
            <a:r>
              <a:t>3. Ajouter la sécurité après coup</a:t>
            </a:r>
          </a:p>
          <a:p>
            <a:pPr>
              <a:defRPr sz="1400"/>
            </a:pPr>
            <a:r>
              <a:t>   → Coût 1000x plus élevé</a:t>
            </a:r>
          </a:p>
          <a:p>
            <a:pPr>
              <a:defRPr sz="1400"/>
            </a:pPr>
          </a:p>
          <a:p>
            <a:pPr>
              <a:defRPr b="1" sz="1600"/>
            </a:pPr>
            <a:r>
              <a:t>4. Compter sur l'obscurité seule</a:t>
            </a:r>
          </a:p>
          <a:p>
            <a:pPr>
              <a:defRPr sz="1400"/>
            </a:pPr>
            <a:r>
              <a:t>   → Fausse sécurité</a:t>
            </a:r>
          </a:p>
          <a:p>
            <a:pPr>
              <a:defRPr sz="1400"/>
            </a:pPr>
          </a:p>
          <a:p>
            <a:pPr>
              <a:defRPr b="1" sz="1600"/>
            </a:pPr>
            <a:r>
              <a:t>5. Oublier l'humain</a:t>
            </a:r>
          </a:p>
          <a:p>
            <a:pPr>
              <a:defRPr sz="1400"/>
            </a:pPr>
            <a:r>
              <a:t>   → Formation et culture essentielles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Ressources et Outils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Standards et frameworks :</a:t>
            </a:r>
          </a:p>
          <a:p>
            <a:pPr>
              <a:defRPr sz="1500"/>
            </a:pPr>
            <a:r>
              <a:t>OWASP - Top 10, SAMM, ASVS</a:t>
            </a:r>
          </a:p>
          <a:p>
            <a:pPr>
              <a:defRPr sz="1500"/>
            </a:pPr>
            <a:r>
              <a:t>NIST - Cybersecurity Framework</a:t>
            </a:r>
          </a:p>
          <a:p>
            <a:pPr>
              <a:defRPr sz="1500"/>
            </a:pPr>
            <a:r>
              <a:t>ISO 27001/27002 - Sécurité de l'information</a:t>
            </a:r>
          </a:p>
          <a:p>
            <a:pPr>
              <a:defRPr sz="1500"/>
            </a:pPr>
            <a:r>
              <a:t>ANSSI - Guides et recommandations</a:t>
            </a:r>
          </a:p>
          <a:p>
            <a:pPr>
              <a:defRPr sz="1500"/>
            </a:pPr>
          </a:p>
          <a:p>
            <a:pPr>
              <a:defRPr b="1" sz="1800"/>
            </a:pPr>
            <a:r>
              <a:t>Outils open source :</a:t>
            </a:r>
          </a:p>
          <a:p>
            <a:pPr>
              <a:defRPr sz="1500"/>
            </a:pPr>
            <a:r>
              <a:t>SAST : SonarQube, Semgrep</a:t>
            </a:r>
          </a:p>
          <a:p>
            <a:pPr>
              <a:defRPr sz="1500"/>
            </a:pPr>
            <a:r>
              <a:t>DAST : OWASP ZAP, Burp Suite</a:t>
            </a:r>
          </a:p>
          <a:p>
            <a:pPr>
              <a:defRPr sz="1500"/>
            </a:pPr>
            <a:r>
              <a:t>SCA : Snyk, Dependabot</a:t>
            </a:r>
          </a:p>
          <a:p>
            <a:pPr>
              <a:defRPr sz="1500"/>
            </a:pPr>
            <a:r>
              <a:t>Container : Trivy, Clair</a:t>
            </a:r>
          </a:p>
          <a:p>
            <a:pPr>
              <a:defRPr sz="1500"/>
            </a:pPr>
            <a:r>
              <a:t>IaC : Checkov, tfsec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Questions / Réponses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Merci de votre attention !</a:t>
            </a:r>
          </a:p>
          <a:p/>
          <a:p>
            <a:r>
              <a:t>Contact et ressources :</a:t>
            </a:r>
          </a:p>
          <a:p>
            <a:r>
              <a:t>• Documentation complète disponible</a:t>
            </a:r>
          </a:p>
          <a:p>
            <a:r>
              <a:t>• Templates et checklists fournis</a:t>
            </a:r>
          </a:p>
          <a:p>
            <a:r>
              <a:t>• Support et formation continue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